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wt8Y8U8TaarA+9oDmy0Tg9Q29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6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Os conteúdos gerados pela IA podem estar incorretos.</a:t>
            </a:r>
            <a:br>
              <a:rPr lang="pt-BR"/>
            </a:br>
            <a:br>
              <a:rPr lang="pt-BR"/>
            </a:br>
            <a:r>
              <a:rPr lang="pt-BR"/>
              <a:t>---</a:t>
            </a:r>
            <a:br>
              <a:rPr lang="pt-BR"/>
            </a:br>
            <a:br>
              <a:rPr lang="pt-BR"/>
            </a:br>
            <a:r>
              <a:rPr lang="pt-BR"/>
              <a:t>Nesta apresentação, discutiremos como a inteligência artificial e as tecnologias emergentes podem transformar o setor agropecuário brasileiro, focando na sustentabilidade e na conversão de dados fiscais em valor ambiental. Vamos explorar a evolução das tecnologias e seu impacto positivo no agro.</a:t>
            </a:r>
            <a:br>
              <a:rPr lang="pt-BR"/>
            </a:br>
            <a:br>
              <a:rPr lang="pt-BR"/>
            </a:b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6f4ed37c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66f4ed37c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66f4ed37c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13895ef04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713895ef04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 setor agropecuário é responsável por uma parte significativa das emissões de gases de efeito estufa. Nesta seção, discutiremos as principais fontes de emissão dentro do agro e o impacto ambiental gerado, além de como a conscientização sobre essas questões está crescendo entre os produtores.</a:t>
            </a:r>
            <a:endParaRPr/>
          </a:p>
        </p:txBody>
      </p:sp>
      <p:sp>
        <p:nvSpPr>
          <p:cNvPr id="107" name="Google Shape;107;g3713895ef04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Soluções tecnológicas emergentes, como a agricultura de precisão e o uso de sensores, estão revolucionando a forma como os produtores gerenciam suas operações. Vamos discutir como essas inovações ajudam a otimizar o uso de recursos e a reduzir o impacto ambiental.</a:t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 transformação de dados fiscais em informações ambientais é uma inovação promissora que pode gerar valor significativo. Abordaremos como essa abordagem pode ajudar os produtores a tomar decisões mais informadas e sustentáveis, utilizando os dados disponíveis para melhorar suas práticas.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6f4ed37c5_0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66f4ed37c5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66f4ed37c5_0_2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huggingface.co/spaces/jlgsilva/iguacu_ai_fin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1170165" y="1088571"/>
            <a:ext cx="7538405" cy="277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lang="pt-BR" sz="4600"/>
              <a:t>IA e Sustentabilidade: Transformando Dados Fiscais em Mensuração Ambiental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197046" y="4027200"/>
            <a:ext cx="105249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Transformando Notas Fiscais em Estimativas de Emissão de CO2</a:t>
            </a:r>
            <a:endParaRPr b="1" sz="1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92" name="Google Shape;92;p1"/>
          <p:cNvSpPr/>
          <p:nvPr/>
        </p:nvSpPr>
        <p:spPr>
          <a:xfrm>
            <a:off x="694412" y="5725100"/>
            <a:ext cx="3569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pt-BR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 Iguaçu AI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0550" y="52287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3400" y="5205550"/>
            <a:ext cx="998900" cy="9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1975" y="52287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>
            <a:off x="4316050" y="6227652"/>
            <a:ext cx="75564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pt-BR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Bruno Ribeiro                 Jefferson Silva                    José Lopes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6f4ed37c5_0_13"/>
          <p:cNvSpPr txBox="1"/>
          <p:nvPr>
            <p:ph idx="4294967295" type="title"/>
          </p:nvPr>
        </p:nvSpPr>
        <p:spPr>
          <a:xfrm>
            <a:off x="141825" y="3026075"/>
            <a:ext cx="4273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/>
              <a:t>Descrição do tema escolhido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3" name="Google Shape;103;g366f4ed37c5_0_13"/>
          <p:cNvSpPr txBox="1"/>
          <p:nvPr/>
        </p:nvSpPr>
        <p:spPr>
          <a:xfrm>
            <a:off x="5526900" y="436650"/>
            <a:ext cx="6216900" cy="7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Extração de Dados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O núcleo da aplicação é a </a:t>
            </a:r>
            <a:r>
              <a:rPr b="1" lang="pt-BR" sz="1500">
                <a:solidFill>
                  <a:schemeClr val="dk1"/>
                </a:solidFill>
              </a:rPr>
              <a:t>extração automatizada e padronizada de dados</a:t>
            </a:r>
            <a:r>
              <a:rPr lang="pt-BR" sz="1500">
                <a:solidFill>
                  <a:schemeClr val="dk1"/>
                </a:solidFill>
              </a:rPr>
              <a:t> a partir de arquivos XML de NF-e, que seguem o layout oficial do Portal Nacional da NF-e.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Classificação, categorização e customização por ramo de atividade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A simples extração de dados não é suficiente para gerar insights acionáveis. É necessário categorizar e classificar itens e fornecedores para identificar padrões de consumo, concentrações de risco e oportunidades de otimização. A aplicação extrai os principais itens/categorias de produtos, a fim de estimar a emissão de CO2 emitido no processo.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Ferramentas gerenciais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Dados extraídos e categorizados só geram valor se transformados em </a:t>
            </a:r>
            <a:r>
              <a:rPr b="1" lang="pt-BR" sz="1500">
                <a:solidFill>
                  <a:schemeClr val="dk1"/>
                </a:solidFill>
              </a:rPr>
              <a:t>insights acionáveis</a:t>
            </a:r>
            <a:r>
              <a:rPr lang="pt-BR" sz="1500">
                <a:solidFill>
                  <a:schemeClr val="dk1"/>
                </a:solidFill>
              </a:rPr>
              <a:t> e apresentados de forma clara para apoiar decisões gerenciais. Apresentação dos resultados em gráficos e habilitação de prompt para interação final do usuário.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13895ef04_0_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713895ef04_0_3"/>
          <p:cNvSpPr txBox="1"/>
          <p:nvPr>
            <p:ph type="title"/>
          </p:nvPr>
        </p:nvSpPr>
        <p:spPr>
          <a:xfrm>
            <a:off x="539334" y="692004"/>
            <a:ext cx="59163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pt-BR" sz="3300"/>
              <a:t>Porque isso é importante?</a:t>
            </a:r>
            <a:endParaRPr sz="3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111" name="Google Shape;111;g3713895ef04_0_3"/>
          <p:cNvSpPr txBox="1"/>
          <p:nvPr>
            <p:ph idx="2" type="body"/>
          </p:nvPr>
        </p:nvSpPr>
        <p:spPr>
          <a:xfrm>
            <a:off x="539333" y="2302782"/>
            <a:ext cx="5916300" cy="4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1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</a:pPr>
            <a:r>
              <a:rPr lang="pt-BR" sz="1400"/>
              <a:t>A rastreabilidade de emissões de GEE é uma exigência crescente, principalmente quando se trata do Escopo 3, onde a cadeia de fornecedores é essencial para fornecer insumos para as estimativas.</a:t>
            </a:r>
            <a:br>
              <a:rPr lang="pt-BR" sz="1400"/>
            </a:br>
            <a:endParaRPr sz="1400"/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pt-BR" sz="1400"/>
              <a:t>Notas fiscais são fontes ricas, porém subutilizadas, de dados para análise ambiental.</a:t>
            </a:r>
            <a:br>
              <a:rPr lang="pt-BR" sz="1400"/>
            </a:br>
            <a:endParaRPr sz="1400"/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pt-BR" sz="1400"/>
              <a:t>Empresas de pequeno e médio porte têm baixa acessibilidade a ferramentas ESG automatizadas.</a:t>
            </a:r>
            <a:br>
              <a:rPr lang="pt-BR" sz="1400"/>
            </a:br>
            <a:endParaRPr sz="1400"/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pt-BR" sz="1400"/>
              <a:t>A IA permite análises contínuas, auditáveis e de baixo custo, promovendo sustentabilidade, conformidade e vantagem competitiva.</a:t>
            </a:r>
            <a:endParaRPr sz="1100"/>
          </a:p>
          <a:p>
            <a:pPr indent="0" lvl="1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</p:txBody>
      </p:sp>
      <p:pic>
        <p:nvPicPr>
          <p:cNvPr descr="Vector of industrial factory buildings, polluting air with electricity tower, chimney, and smoke or fog air pollution. Flat set design elements with (Fornecido por Getty Images)" id="112" name="Google Shape;112;g3713895ef04_0_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32101" r="32098" t="0"/>
          <a:stretch/>
        </p:blipFill>
        <p:spPr>
          <a:xfrm>
            <a:off x="7281595" y="10"/>
            <a:ext cx="4910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>
            <p:ph type="title"/>
          </p:nvPr>
        </p:nvSpPr>
        <p:spPr>
          <a:xfrm>
            <a:off x="612650" y="600074"/>
            <a:ext cx="60351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3300"/>
              <a:t>O que desenvolvemos</a:t>
            </a:r>
            <a:endParaRPr/>
          </a:p>
        </p:txBody>
      </p:sp>
      <p:sp>
        <p:nvSpPr>
          <p:cNvPr id="120" name="Google Shape;120;p4"/>
          <p:cNvSpPr txBox="1"/>
          <p:nvPr>
            <p:ph idx="2" type="body"/>
          </p:nvPr>
        </p:nvSpPr>
        <p:spPr>
          <a:xfrm>
            <a:off x="612650" y="1394698"/>
            <a:ext cx="6035100" cy="49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pt-BR" sz="1400"/>
              <a:t>Uma aplicação capaz de ler e analisar centenas de Notas Fiscais Eletrônicas (NF-e) em conjunto e realizar estimativas de emissões de CO2.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b="1" lang="pt-BR" sz="1640"/>
              <a:t>A Solução:</a:t>
            </a:r>
            <a:endParaRPr b="1" sz="1640"/>
          </a:p>
          <a:p>
            <a:pPr indent="-29844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 sz="1400"/>
              <a:t>Agente IA com </a:t>
            </a:r>
            <a:r>
              <a:rPr b="1" lang="pt-BR" sz="1400"/>
              <a:t>Gemini 2.5 Flash integrado </a:t>
            </a:r>
            <a:r>
              <a:rPr lang="pt-BR" sz="1400"/>
              <a:t>para leitura de NF-es;</a:t>
            </a:r>
            <a:br>
              <a:rPr lang="pt-BR" sz="1400"/>
            </a:br>
            <a:endParaRPr sz="1400"/>
          </a:p>
          <a:p>
            <a:pPr indent="-2984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400"/>
              <a:t>Identificação e classificação dos produtos;</a:t>
            </a:r>
            <a:br>
              <a:rPr lang="pt-BR" sz="1400"/>
            </a:br>
            <a:endParaRPr sz="1400"/>
          </a:p>
          <a:p>
            <a:pPr indent="-2984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400"/>
              <a:t>Cálculo automatizado de CO2 por </a:t>
            </a:r>
            <a:r>
              <a:rPr b="1" lang="pt-BR" sz="1400"/>
              <a:t>fator de emissão</a:t>
            </a:r>
            <a:br>
              <a:rPr lang="pt-BR" sz="1400"/>
            </a:br>
            <a:endParaRPr sz="1400"/>
          </a:p>
          <a:p>
            <a:pPr indent="-2984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400"/>
              <a:t>Gráficos resumo;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2984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400"/>
              <a:t>Prompt para o usuário interagir com o dataset carregado e com os resultados das análises.</a:t>
            </a:r>
            <a:endParaRPr b="1" sz="1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/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6765" y="1503150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8690997" y="193603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pt-BR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Leitura de NF-es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690999" y="2220375"/>
            <a:ext cx="3501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6765" y="2864035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8690997" y="3090849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lang="pt-BR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Análise automatizada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690999" y="3581275"/>
            <a:ext cx="3394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7" name="Google Shape;12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6765" y="4224919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8690997" y="472822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lang="pt-BR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Insights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690999" y="4942150"/>
            <a:ext cx="3447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612650" y="600074"/>
            <a:ext cx="6035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pt-BR" sz="3300"/>
              <a:t>Público-Alvo</a:t>
            </a:r>
            <a:endParaRPr/>
          </a:p>
        </p:txBody>
      </p:sp>
      <p:sp>
        <p:nvSpPr>
          <p:cNvPr id="137" name="Google Shape;137;p5"/>
          <p:cNvSpPr txBox="1"/>
          <p:nvPr>
            <p:ph idx="2" type="body"/>
          </p:nvPr>
        </p:nvSpPr>
        <p:spPr>
          <a:xfrm>
            <a:off x="612650" y="1403573"/>
            <a:ext cx="6035100" cy="49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/>
              <a:t>Elencamos os possíveis stakeholders envolvidos (ou que teriam interesse) na solução. Conforme avançarmos na execução vamos refinar pra ter um melhor direcionamento para um piloto.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400"/>
              <a:t>Auditorias e órgãos de controle</a:t>
            </a:r>
            <a:r>
              <a:rPr lang="pt-BR" sz="1400"/>
              <a:t> (Tribunais de Contas, CGUs (Controladoria Geral da União), auditorias independentes) que precisam analisar grandes volumes de NF-e para identificar irregularidades, fraudes e ineficiências em gastos públicos ou privados.</a:t>
            </a:r>
            <a:endParaRPr sz="1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400"/>
              <a:t>Departamentos de compras e suprimentos</a:t>
            </a:r>
            <a:r>
              <a:rPr lang="pt-BR" sz="1400"/>
              <a:t> (públicos e privados) que buscam otimizar processos de aquisição, negociar melhores condições com fornecedores e identificar oportunidades de economia.</a:t>
            </a:r>
            <a:endParaRPr sz="1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400"/>
              <a:t>Gestores de contratos e compliance</a:t>
            </a:r>
            <a:r>
              <a:rPr lang="pt-BR" sz="1400"/>
              <a:t> que necessitam monitorar fornecedores, verificar conformidade com contratos e políticas internas.</a:t>
            </a:r>
            <a:endParaRPr sz="1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400"/>
              <a:t>Analistas financeiros e contábeis</a:t>
            </a:r>
            <a:r>
              <a:rPr lang="pt-BR" sz="1400"/>
              <a:t> interessados em relatórios gerenciais, análises de tendências e categorização automática de despesas.</a:t>
            </a:r>
            <a:endParaRPr sz="1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400"/>
              <a:t>Pesquisadores e consultorias</a:t>
            </a:r>
            <a:r>
              <a:rPr lang="pt-BR" sz="1400"/>
              <a:t> especializados em gastos públicos, transparência e políticas de sustentabilidade que precisam de ferramentas para análise exploratória rápida.</a:t>
            </a:r>
            <a:endParaRPr sz="1400"/>
          </a:p>
        </p:txBody>
      </p:sp>
      <p:pic>
        <p:nvPicPr>
          <p:cNvPr descr="Relatório de divulgação de risco climático. Meio Ambiente, Social e Governança (ESG)" id="138" name="Google Shape;138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0" r="1" t="13325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" name="Google Shape;144;g366f4ed37c5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236268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66f4ed37c5_0_209"/>
          <p:cNvSpPr/>
          <p:nvPr/>
        </p:nvSpPr>
        <p:spPr>
          <a:xfrm>
            <a:off x="142915" y="2576625"/>
            <a:ext cx="12740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pt-BR" sz="4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Transforme Dados em Inteligência Estratégica</a:t>
            </a:r>
            <a:endParaRPr b="0" i="0" sz="4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66f4ed37c5_0_209"/>
          <p:cNvSpPr/>
          <p:nvPr/>
        </p:nvSpPr>
        <p:spPr>
          <a:xfrm>
            <a:off x="142923" y="4085225"/>
            <a:ext cx="3476700" cy="2268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66f4ed37c5_0_209"/>
          <p:cNvSpPr/>
          <p:nvPr/>
        </p:nvSpPr>
        <p:spPr>
          <a:xfrm>
            <a:off x="142915" y="465220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pt-BR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Demonstração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66f4ed37c5_0_209"/>
          <p:cNvSpPr/>
          <p:nvPr/>
        </p:nvSpPr>
        <p:spPr>
          <a:xfrm>
            <a:off x="142923" y="5142625"/>
            <a:ext cx="3254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pt-BR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Conheça como a solução funciona na prática.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66f4ed37c5_0_209"/>
          <p:cNvSpPr/>
          <p:nvPr/>
        </p:nvSpPr>
        <p:spPr>
          <a:xfrm>
            <a:off x="4284851" y="3813000"/>
            <a:ext cx="3206700" cy="2268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66f4ed37c5_0_209"/>
          <p:cNvSpPr/>
          <p:nvPr/>
        </p:nvSpPr>
        <p:spPr>
          <a:xfrm>
            <a:off x="4284854" y="437997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pt-BR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Implementação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66f4ed37c5_0_209"/>
          <p:cNvSpPr/>
          <p:nvPr/>
        </p:nvSpPr>
        <p:spPr>
          <a:xfrm>
            <a:off x="4284851" y="4870400"/>
            <a:ext cx="3206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pt-BR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Integração rápida com seus sistemas atuais.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66f4ed37c5_0_209"/>
          <p:cNvSpPr/>
          <p:nvPr/>
        </p:nvSpPr>
        <p:spPr>
          <a:xfrm>
            <a:off x="8226673" y="3404800"/>
            <a:ext cx="3476700" cy="2268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66f4ed37c5_0_209"/>
          <p:cNvSpPr/>
          <p:nvPr/>
        </p:nvSpPr>
        <p:spPr>
          <a:xfrm>
            <a:off x="8226663" y="397176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pt-BR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Resultados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66f4ed37c5_0_209"/>
          <p:cNvSpPr/>
          <p:nvPr/>
        </p:nvSpPr>
        <p:spPr>
          <a:xfrm>
            <a:off x="8226675" y="4462175"/>
            <a:ext cx="3898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pt-BR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Obtenha rastreabilidade completa e conformidade garantida.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66f4ed37c5_0_209"/>
          <p:cNvSpPr/>
          <p:nvPr/>
        </p:nvSpPr>
        <p:spPr>
          <a:xfrm>
            <a:off x="4059125" y="6272800"/>
            <a:ext cx="137463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lang="pt-BR" sz="24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Agende sua demonstração!</a:t>
            </a:r>
            <a:endParaRPr b="1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2025-04-08T19:17:15Z</dcterms:created>
</cp:coreProperties>
</file>